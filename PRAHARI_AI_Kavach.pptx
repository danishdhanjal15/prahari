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5566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AI KAVACH  ·  PRAHARI  ·  AUTONOMOUS CYBER-REASONING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2615" y="645566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6400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PRAHARI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2C0"/>
                </a:solidFill>
                <a:latin typeface="Segoe UI"/>
              </a:rPr>
              <a:t>Proof-carrying Reasoning And Hardening for Autonomous Remediation of Intrusions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7744"/>
            <a:ext cx="113687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A6B8C"/>
                </a:solidFill>
                <a:latin typeface="Segoe UI"/>
              </a:rPr>
              <a:t>AI KAVACH  ·  CYBER-REASONING SYSTEM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66928"/>
            <a:ext cx="113687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Segoe UI"/>
              </a:rPr>
              <a:t>SLIDE 1  ·  INTRODUCTION, IDEATION &amp; BRIEF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33856"/>
            <a:ext cx="11368735" cy="201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261872"/>
            <a:ext cx="11368735" cy="548640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09728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DF7"/>
                </a:solidFill>
                <a:latin typeface="Segoe UI"/>
              </a:rPr>
              <a:t>An air-gap-deployable cyber-reasoning system that finds, patches, and </a:t>
            </a:r>
            <a:r>
              <a:rPr sz="1400" b="1" i="0">
                <a:solidFill>
                  <a:srgbClr val="22D3EE"/>
                </a:solidFill>
                <a:latin typeface="Segoe UI"/>
              </a:rPr>
              <a:t>proves</a:t>
            </a:r>
            <a:r>
              <a:rPr sz="1400" b="0" i="0">
                <a:solidFill>
                  <a:srgbClr val="E8EDF7"/>
                </a:solidFill>
                <a:latin typeface="Segoe UI"/>
              </a:rPr>
              <a:t> — with no human in the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61872"/>
            <a:ext cx="50292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3606698" cy="298094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46304" tIns="146304" bIns="1097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F5A524"/>
                </a:solidFill>
                <a:latin typeface="Consolas"/>
              </a:rPr>
              <a:t>01   </a:t>
            </a:r>
            <a:r>
              <a:rPr sz="1050" b="1" i="0">
                <a:solidFill>
                  <a:srgbClr val="F5A524"/>
                </a:solidFill>
                <a:latin typeface="Segoe U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WHY THE CURRENT PATCH CYCLE CANNOT HOLD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5A524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Armed Forces web and API software — logistics portals, C2 services, internal REST APIs — is patched on a human cycle measured in weeks. Adversary exploitation windows are measured in hours.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5A524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Commercial scanners find but never fix, bury analysts in false positives, and are cloud-only — a non-starter on a classified network.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5A524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Every hour a known flaw stays live is an hour of exposed operational surface.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5A524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The finale target is a simulated Armed Forces environment — the same shape of software, under the same constraint: no source code leaves the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38528"/>
            <a:ext cx="50292" cy="298094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2498" y="1938528"/>
            <a:ext cx="3606698" cy="298094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46304" tIns="146304" bIns="1097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02   </a:t>
            </a:r>
            <a:r>
              <a:rPr sz="1050" b="1" i="0">
                <a:solidFill>
                  <a:srgbClr val="22D3EE"/>
                </a:solidFill>
                <a:latin typeface="Segoe UI"/>
              </a:rPr>
              <a:t>THE GAP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WHY EXISTING CRS DESIGNS DO NOT TRANSFER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2D3EE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Autonomous cyber-reasoning works on C/C++ because a segfault is a free ground-truth oracle. AddressSanitizer says “this is a real bug” — for free, with no ambiguity.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2D3EE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Web and API services have no segfault. An SQL injection returns HTTP 200.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2D3EE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So fuzzers are blind, findings are noisy guesses, and an LLM’s “fix” cannot be verified. This is the gap PRAHARI is built to close.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2D3EE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Bolting an LLM onto a scanner inherits the same blindness — it only rewrites what the scanner already guessed 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2498" y="1938528"/>
            <a:ext cx="50292" cy="298094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3516" y="1938528"/>
            <a:ext cx="3606698" cy="298094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46304" tIns="146304" bIns="1097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03  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THE 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SUPPLY THE MISSING ORACLE, THEN THE MISSING PROOF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34D399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PySan — a runtime taint sanitizer that gives Python services the oracle they never had: tainted input reaching a dangerous sink becomes a deterministic, replayable crash.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34D399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Proof-carrying patches — no fix is accepted on model confidence. Each must clear four machine-checkable gates and ships with the evidence attached.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34D399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Local-first reasoning. One laptop, fully offline, no cloud dependency.</a:t>
            </a:r>
          </a:p>
          <a:p>
            <a:pPr algn="l" marL="141732" indent="-141732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34D399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The result of a run is not an alert. It is a finding, a patch, and the evidence that the patch works — produced end to end without an operator.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3516" y="1938528"/>
            <a:ext cx="50292" cy="298094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11480" y="5047488"/>
            <a:ext cx="2377440" cy="548640"/>
          </a:xfrm>
          <a:prstGeom prst="chevron">
            <a:avLst/>
          </a:prstGeom>
          <a:solidFill>
            <a:srgbClr val="131A2B"/>
          </a:solidFill>
          <a:ln w="1270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A524"/>
                </a:solidFill>
                <a:latin typeface="Segoe UI"/>
              </a:rPr>
              <a:t>FIND</a:t>
            </a:r>
          </a:p>
        </p:txBody>
      </p:sp>
      <p:sp>
        <p:nvSpPr>
          <p:cNvPr id="18" name="Chevron 17"/>
          <p:cNvSpPr/>
          <p:nvPr/>
        </p:nvSpPr>
        <p:spPr>
          <a:xfrm>
            <a:off x="2659303" y="5047488"/>
            <a:ext cx="2377440" cy="548640"/>
          </a:xfrm>
          <a:prstGeom prst="chevron">
            <a:avLst/>
          </a:prstGeom>
          <a:solidFill>
            <a:srgbClr val="131A2B"/>
          </a:solidFill>
          <a:ln w="1270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A524"/>
                </a:solidFill>
                <a:latin typeface="Segoe UI"/>
              </a:rPr>
              <a:t>PROVE</a:t>
            </a:r>
          </a:p>
        </p:txBody>
      </p:sp>
      <p:sp>
        <p:nvSpPr>
          <p:cNvPr id="19" name="Chevron 18"/>
          <p:cNvSpPr/>
          <p:nvPr/>
        </p:nvSpPr>
        <p:spPr>
          <a:xfrm>
            <a:off x="4907127" y="5047488"/>
            <a:ext cx="2377440" cy="548640"/>
          </a:xfrm>
          <a:prstGeom prst="chevron">
            <a:avLst/>
          </a:prstGeom>
          <a:solidFill>
            <a:srgbClr val="131A2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PATCH</a:t>
            </a:r>
          </a:p>
        </p:txBody>
      </p:sp>
      <p:sp>
        <p:nvSpPr>
          <p:cNvPr id="20" name="Chevron 19"/>
          <p:cNvSpPr/>
          <p:nvPr/>
        </p:nvSpPr>
        <p:spPr>
          <a:xfrm>
            <a:off x="7154951" y="5047488"/>
            <a:ext cx="2377440" cy="548640"/>
          </a:xfrm>
          <a:prstGeom prst="chevron">
            <a:avLst/>
          </a:prstGeom>
          <a:solidFill>
            <a:srgbClr val="131A2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RE-PROVE</a:t>
            </a:r>
          </a:p>
        </p:txBody>
      </p:sp>
      <p:sp>
        <p:nvSpPr>
          <p:cNvPr id="21" name="Chevron 20"/>
          <p:cNvSpPr/>
          <p:nvPr/>
        </p:nvSpPr>
        <p:spPr>
          <a:xfrm>
            <a:off x="9402775" y="5047488"/>
            <a:ext cx="2377440" cy="548640"/>
          </a:xfrm>
          <a:prstGeom prst="chevron">
            <a:avLst/>
          </a:prstGeom>
          <a:solidFill>
            <a:srgbClr val="131A2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REGRESS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650992"/>
            <a:ext cx="113687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2C0"/>
                </a:solidFill>
                <a:latin typeface="Segoe UI"/>
              </a:rPr>
              <a:t>A closed autonomous loop — the system does not stop at a finding, and does not stop at a patch.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907024"/>
            <a:ext cx="11368735" cy="457200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09728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EDF7"/>
                </a:solidFill>
                <a:latin typeface="Segoe UI"/>
              </a:rPr>
              <a:t>[TEAM NAME]</a:t>
            </a:r>
            <a:r>
              <a:rPr sz="1000" b="0" i="0">
                <a:solidFill>
                  <a:srgbClr val="93A2C0"/>
                </a:solidFill>
                <a:latin typeface="Segoe UI"/>
              </a:rPr>
              <a:t>        [Member 1]   ·   [Member 2]   ·   [Member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5566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AI KAVACH  ·  PRAHARI  ·  AUTONOMOUS CYBER-REASONING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2615" y="645566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7"/>
                </a:solidFill>
                <a:latin typeface="Segoe UI"/>
              </a:rPr>
              <a:t>Detailed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68735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Segoe UI"/>
              </a:rPr>
              <a:t>SLIDE 2  ·  STEP-BY-STEP APPROACH, IMPLEMENTATION STRATEGY &amp;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59536"/>
            <a:ext cx="11368735" cy="201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60704"/>
            <a:ext cx="2691307" cy="188366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46304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01  </a:t>
            </a:r>
            <a:r>
              <a:rPr sz="1000" b="1" i="0">
                <a:solidFill>
                  <a:srgbClr val="E8EDF7"/>
                </a:solidFill>
                <a:latin typeface="Segoe UI"/>
              </a:rPr>
              <a:t>INGEST &amp; MAP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Clone the target. tree-sitter AST plus call graph. Routes lifted from OpenAPI / Swagger, Flask and FastAPI decorators, and Django URLconf.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60704"/>
            <a:ext cx="2691307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542032"/>
            <a:ext cx="2380411" cy="1097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606039"/>
            <a:ext cx="23804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2D3EE"/>
                </a:solidFill>
                <a:latin typeface="Consolas"/>
              </a:rPr>
              <a:t>OUT  </a:t>
            </a:r>
            <a:r>
              <a:rPr sz="800" b="0" i="0">
                <a:solidFill>
                  <a:srgbClr val="93A2C0"/>
                </a:solidFill>
                <a:latin typeface="Segoe UI"/>
              </a:rPr>
              <a:t>attack-surface inventory + call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3955" y="1060704"/>
            <a:ext cx="2691307" cy="188366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46304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02  </a:t>
            </a:r>
            <a:r>
              <a:rPr sz="1000" b="1" i="0">
                <a:solidFill>
                  <a:srgbClr val="E8EDF7"/>
                </a:solidFill>
                <a:latin typeface="Segoe UI"/>
              </a:rPr>
              <a:t>STATIC PRE-FOCUS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Semgrep, CodeQL and custom taint rules rank every source-to-sink path. The LLM reads only the ranked slices, never the whole repository — the context economy that keeps PRAHARI lightweight.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3955" y="1060704"/>
            <a:ext cx="2691307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9403" y="2542032"/>
            <a:ext cx="2380411" cy="1097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03" y="2606039"/>
            <a:ext cx="23804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2D3EE"/>
                </a:solidFill>
                <a:latin typeface="Consolas"/>
              </a:rPr>
              <a:t>OUT  </a:t>
            </a:r>
            <a:r>
              <a:rPr sz="800" b="0" i="0">
                <a:solidFill>
                  <a:srgbClr val="93A2C0"/>
                </a:solidFill>
                <a:latin typeface="Segoe UI"/>
              </a:rPr>
              <a:t>ranked candidate sink paths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1060704"/>
            <a:ext cx="2691307" cy="188366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46304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03  </a:t>
            </a:r>
            <a:r>
              <a:rPr sz="1000" b="1" i="0">
                <a:solidFill>
                  <a:srgbClr val="E8EDF7"/>
                </a:solidFill>
                <a:latin typeface="Segoe UI"/>
              </a:rPr>
              <a:t>AUTO-HARNESS SYNTHESIS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The model writes one fuzz driver per route, seeded from spec examples and recorded traffic. No human writes a harness — this is what lets PRAHARI be aimed at unfamiliar infrastructure.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431" y="1060704"/>
            <a:ext cx="2691307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1879" y="2542032"/>
            <a:ext cx="2380411" cy="1097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1879" y="2606039"/>
            <a:ext cx="23804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2D3EE"/>
                </a:solidFill>
                <a:latin typeface="Consolas"/>
              </a:rPr>
              <a:t>OUT  </a:t>
            </a:r>
            <a:r>
              <a:rPr sz="800" b="0" i="0">
                <a:solidFill>
                  <a:srgbClr val="93A2C0"/>
                </a:solidFill>
                <a:latin typeface="Segoe UI"/>
              </a:rPr>
              <a:t>per-route fuzz drivers + seed corpus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8907" y="1060704"/>
            <a:ext cx="2691307" cy="188366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46304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700" b="1" i="0">
                <a:solidFill>
                  <a:srgbClr val="F5A524"/>
                </a:solidFill>
                <a:latin typeface="Consolas"/>
              </a:rPr>
              <a:t>◆ CORE INNOVATION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5A524"/>
                </a:solidFill>
                <a:latin typeface="Consolas"/>
              </a:rPr>
              <a:t>04  </a:t>
            </a:r>
            <a:r>
              <a:rPr sz="1000" b="1" i="0">
                <a:solidFill>
                  <a:srgbClr val="E8EDF7"/>
                </a:solidFill>
                <a:latin typeface="Segoe UI"/>
              </a:rPr>
              <a:t>PySan TAINT ORACLE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Import-time hooks on dangerous sinks: cursor.execute, os.system, subprocess, pickle.loads, eval, open, ORM raw. Taint propagates from every request object. Reaching a sink is a deterministic crash.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8907" y="1060704"/>
            <a:ext cx="2691307" cy="4114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355" y="2542032"/>
            <a:ext cx="2380411" cy="1097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355" y="2606039"/>
            <a:ext cx="23804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5A524"/>
                </a:solidFill>
                <a:latin typeface="Consolas"/>
              </a:rPr>
              <a:t>OUT  </a:t>
            </a:r>
            <a:r>
              <a:rPr sz="800" b="0" i="0">
                <a:solidFill>
                  <a:srgbClr val="93A2C0"/>
                </a:solidFill>
                <a:latin typeface="Segoe UI"/>
              </a:rPr>
              <a:t>replayable PoV + full taint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2787" y="1865376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5263" y="1865376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739" y="1865376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108960"/>
            <a:ext cx="2691307" cy="188366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46304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78BFA"/>
                </a:solidFill>
                <a:latin typeface="Consolas"/>
              </a:rPr>
              <a:t>05  </a:t>
            </a:r>
            <a:r>
              <a:rPr sz="1000" b="1" i="0">
                <a:solidFill>
                  <a:srgbClr val="E8EDF7"/>
                </a:solidFill>
                <a:latin typeface="Segoe UI"/>
              </a:rPr>
              <a:t>TRIAGE &amp; DEDUP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PoVs are clustered by taint-path signature, mapped to CWE, and scored for severity by reachability and authentication requirement. Served entirely by the on-device 3B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08960"/>
            <a:ext cx="2691307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590288"/>
            <a:ext cx="2380411" cy="1097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654296"/>
            <a:ext cx="23804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78BFA"/>
                </a:solidFill>
                <a:latin typeface="Consolas"/>
              </a:rPr>
              <a:t>OUT  </a:t>
            </a:r>
            <a:r>
              <a:rPr sz="800" b="0" i="0">
                <a:solidFill>
                  <a:srgbClr val="93A2C0"/>
                </a:solidFill>
                <a:latin typeface="Segoe UI"/>
              </a:rPr>
              <a:t>deduplicated, CWE-tagged, ranked findings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03955" y="3108960"/>
            <a:ext cx="2691307" cy="188366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46304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78BFA"/>
                </a:solidFill>
                <a:latin typeface="Consolas"/>
              </a:rPr>
              <a:t>06  </a:t>
            </a:r>
            <a:r>
              <a:rPr sz="1000" b="1" i="0">
                <a:solidFill>
                  <a:srgbClr val="E8EDF7"/>
                </a:solidFill>
                <a:latin typeface="Segoe UI"/>
              </a:rPr>
              <a:t>PATCH SYNTHESIS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N candidate minimal diffs, each constrained by the recorded taint path and ranked locally. Escalates to the Claude API only when every local candidate fails validation.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03955" y="3108960"/>
            <a:ext cx="2691307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59403" y="4590288"/>
            <a:ext cx="2380411" cy="1097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9403" y="4654296"/>
            <a:ext cx="23804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78BFA"/>
                </a:solidFill>
                <a:latin typeface="Consolas"/>
              </a:rPr>
              <a:t>OUT  </a:t>
            </a:r>
            <a:r>
              <a:rPr sz="800" b="0" i="0">
                <a:solidFill>
                  <a:srgbClr val="93A2C0"/>
                </a:solidFill>
                <a:latin typeface="Segoe UI"/>
              </a:rPr>
              <a:t>candidate patch diffs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6431" y="3108960"/>
            <a:ext cx="5583783" cy="1883664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46304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700" b="1" i="0">
                <a:solidFill>
                  <a:srgbClr val="34D399"/>
                </a:solidFill>
                <a:latin typeface="Consolas"/>
              </a:rPr>
              <a:t>◆ THIS IS WHERE THE FIX IS PROVEN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07  </a:t>
            </a:r>
            <a:r>
              <a:rPr sz="1000" b="1" i="0">
                <a:solidFill>
                  <a:srgbClr val="E8EDF7"/>
                </a:solidFill>
                <a:latin typeface="Segoe UI"/>
              </a:rPr>
              <a:t>PROOF HARNESS  —  FOUR GATES, ALL MUST PASS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A patch is accepted only when all four gates pass. Output: a signed proof bundle plus a patch PR.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6431" y="3108960"/>
            <a:ext cx="5583783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1879" y="4023360"/>
            <a:ext cx="5272887" cy="201168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Consolas"/>
              </a:rPr>
              <a:t>GATE 1   the PoV replays and is now blocked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1879" y="4261104"/>
            <a:ext cx="5272887" cy="201168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Consolas"/>
              </a:rPr>
              <a:t>GATE 2   the existing test suite is 100% green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1879" y="4498848"/>
            <a:ext cx="5272887" cy="201168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Consolas"/>
              </a:rPr>
              <a:t>GATE 3   10k benign requests: pre/post responses identical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1879" y="4736592"/>
            <a:ext cx="5272887" cy="201168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Consolas"/>
              </a:rPr>
              <a:t>GATE 4   no new taint path introduced by the patch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2787" y="391363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Segoe U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95263" y="391363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Segoe UI"/>
              </a:rPr>
              <a:t>→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3349675" y="5102352"/>
            <a:ext cx="310896" cy="256032"/>
          </a:xfrm>
          <a:prstGeom prst="leftArrow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715435" y="5102352"/>
            <a:ext cx="8064779" cy="256032"/>
          </a:xfrm>
          <a:prstGeom prst="roundRect">
            <a:avLst>
              <a:gd name="adj" fmla="val 50000"/>
            </a:avLst>
          </a:prstGeom>
          <a:solidFill>
            <a:srgbClr val="131A2B"/>
          </a:solidFill>
          <a:ln w="952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A524"/>
                </a:solidFill>
                <a:latin typeface="Consolas"/>
              </a:rPr>
              <a:t>FEEDBACK LOOP   </a:t>
            </a:r>
            <a:r>
              <a:rPr sz="850" b="0" i="0">
                <a:solidFill>
                  <a:srgbClr val="93A2C0"/>
                </a:solidFill>
                <a:latin typeface="Segoe UI"/>
              </a:rPr>
              <a:t>any gate fails → regenerate the patch with the failing gate as evidence — bounded at K iterations, then escalated for human 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86400"/>
            <a:ext cx="11368735" cy="896112"/>
          </a:xfrm>
          <a:prstGeom prst="roundRect">
            <a:avLst>
              <a:gd name="adj" fmla="val 7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5486400"/>
            <a:ext cx="50292" cy="89611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5586984"/>
            <a:ext cx="109663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IMPLEMENTATION STRATEGY</a:t>
            </a:r>
            <a:r>
              <a:rPr sz="850" b="0" i="0">
                <a:solidFill>
                  <a:srgbClr val="5A6B8C"/>
                </a:solidFill>
                <a:latin typeface="Segoe UI"/>
              </a:rPr>
              <a:t>     36-hour build order — the oracle is built first because nothing downstream works without 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" y="5852160"/>
            <a:ext cx="32004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5833872"/>
            <a:ext cx="25221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D3EE"/>
                </a:solidFill>
                <a:latin typeface="Consolas"/>
              </a:rPr>
              <a:t>H 00–06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PySan sink hooks and taint propagation, validated against a known-vulnerable Django app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90823" y="5852160"/>
            <a:ext cx="32004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00551" y="5833872"/>
            <a:ext cx="25221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D3EE"/>
                </a:solidFill>
                <a:latin typeface="Consolas"/>
              </a:rPr>
              <a:t>H 06–16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Route mapping, harness synthesis, orchestrator state machine, local model tier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8999" y="5852160"/>
            <a:ext cx="32004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8727" y="5833872"/>
            <a:ext cx="25221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D3EE"/>
                </a:solidFill>
                <a:latin typeface="Consolas"/>
              </a:rPr>
              <a:t>H 16–28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Patch synthesis loop with all four gates and the feedback path closed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47175" y="5852160"/>
            <a:ext cx="32004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6903" y="5833872"/>
            <a:ext cx="25221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2D3EE"/>
                </a:solidFill>
                <a:latin typeface="Consolas"/>
              </a:rPr>
              <a:t>H 28–36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Dashboard, proof-bundle signing, benchmark run against the seeded corpus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5566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AI KAVACH  ·  PRAHARI  ·  AUTONOMOUS CYBER-REASONING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2615" y="645566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7"/>
                </a:solidFill>
                <a:latin typeface="Segoe UI"/>
              </a:rPr>
              <a:t>Technology Stack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68735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Segoe UI"/>
              </a:rPr>
              <a:t>SLIDE 3  ·  TECHNOLOGIES, FRAMEWORKS, BLOCK DIAGRAM &amp; EQUIPMENT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59536"/>
            <a:ext cx="11368735" cy="201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15568"/>
            <a:ext cx="8732520" cy="932688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1389888" cy="932688"/>
          </a:xfrm>
          <a:prstGeom prst="roundRect">
            <a:avLst>
              <a:gd name="adj" fmla="val 6000"/>
            </a:avLst>
          </a:prstGeom>
          <a:solidFill>
            <a:srgbClr val="18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3A2C0"/>
                </a:solidFill>
                <a:latin typeface="Segoe UI"/>
              </a:rPr>
              <a:t>TARGET
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15568"/>
            <a:ext cx="45720" cy="932688"/>
          </a:xfrm>
          <a:prstGeom prst="rect">
            <a:avLst/>
          </a:prstGeom>
          <a:solidFill>
            <a:srgbClr val="93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47672" y="1472184"/>
            <a:ext cx="535686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93A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Consolas"/>
              </a:rPr>
              <a:t>Flask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5654" y="1472184"/>
            <a:ext cx="654862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93A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Consolas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2812" y="1472184"/>
            <a:ext cx="595274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93A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Consolas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0383" y="1472184"/>
            <a:ext cx="1071981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93A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Consolas"/>
              </a:rPr>
              <a:t>Node / Express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4660" y="1472184"/>
            <a:ext cx="1965807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93A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Consolas"/>
              </a:rPr>
              <a:t>Docker-containerised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82764" y="1472184"/>
            <a:ext cx="1369923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93A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Consolas"/>
              </a:rPr>
              <a:t>OpenAPI 3 / Swagger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020824"/>
            <a:ext cx="274320" cy="196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B8C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189988"/>
            <a:ext cx="8732520" cy="932688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2189988"/>
            <a:ext cx="1389888" cy="932688"/>
          </a:xfrm>
          <a:prstGeom prst="roundRect">
            <a:avLst>
              <a:gd name="adj" fmla="val 6000"/>
            </a:avLst>
          </a:prstGeom>
          <a:solidFill>
            <a:srgbClr val="18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A524"/>
                </a:solidFill>
                <a:latin typeface="Segoe UI"/>
              </a:rPr>
              <a:t>SENSING
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89988"/>
            <a:ext cx="45720" cy="93268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47672" y="2409444"/>
            <a:ext cx="654862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Semgrep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84830" y="2409444"/>
            <a:ext cx="595274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CodeQL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2401" y="2409444"/>
            <a:ext cx="893216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tree-sitter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7913" y="2409444"/>
            <a:ext cx="1071981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OpenAPI parser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92191" y="2409444"/>
            <a:ext cx="654862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Atheris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9350" y="2409444"/>
            <a:ext cx="833628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Hypothesis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45274" y="2409444"/>
            <a:ext cx="952804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schemathesis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47672" y="2683764"/>
            <a:ext cx="893216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coverage.py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3184" y="2683764"/>
            <a:ext cx="1369923" cy="21945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0E1A"/>
                </a:solidFill>
                <a:latin typeface="Consolas"/>
              </a:rPr>
              <a:t>PySan taint 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3095244"/>
            <a:ext cx="274320" cy="196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B8C"/>
                </a:solidFill>
                <a:latin typeface="Segoe UI"/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264408"/>
            <a:ext cx="8732520" cy="932688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1480" y="3264408"/>
            <a:ext cx="1389888" cy="932688"/>
          </a:xfrm>
          <a:prstGeom prst="roundRect">
            <a:avLst>
              <a:gd name="adj" fmla="val 6000"/>
            </a:avLst>
          </a:prstGeom>
          <a:solidFill>
            <a:srgbClr val="18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Segoe UI"/>
              </a:rPr>
              <a:t>REASONING
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264408"/>
            <a:ext cx="45720" cy="93268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947672" y="3483864"/>
            <a:ext cx="2382926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78BFA"/>
                </a:solidFill>
                <a:latin typeface="Consolas"/>
              </a:rPr>
              <a:t>asyncio orchestrator (state machine)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2894" y="3483864"/>
            <a:ext cx="2740456" cy="21945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0E1A"/>
                </a:solidFill>
                <a:latin typeface="Consolas"/>
              </a:rPr>
              <a:t>TIER-1 LOCAL  Ollama + Qwen2.5-Coder 3B/7B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47672" y="3758184"/>
            <a:ext cx="2740456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78BFA"/>
                </a:solidFill>
                <a:latin typeface="Consolas"/>
              </a:rPr>
              <a:t>TIER-2 CLOUD  Claude API (escalation only)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0424" y="3758184"/>
            <a:ext cx="2084984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78BFA"/>
                </a:solidFill>
                <a:latin typeface="Consolas"/>
              </a:rPr>
              <a:t>FAISS RAG  CWE + CVE + codebase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7705" y="3758184"/>
            <a:ext cx="1667865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78BFA"/>
                </a:solidFill>
                <a:latin typeface="Consolas"/>
              </a:rPr>
              <a:t>token / CPU budget meter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" y="4169663"/>
            <a:ext cx="274320" cy="196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B8C"/>
                </a:solidFill>
                <a:latin typeface="Segoe UI"/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338828"/>
            <a:ext cx="8732520" cy="932688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11480" y="4338828"/>
            <a:ext cx="1389888" cy="932688"/>
          </a:xfrm>
          <a:prstGeom prst="roundRect">
            <a:avLst>
              <a:gd name="adj" fmla="val 6000"/>
            </a:avLst>
          </a:prstGeom>
          <a:solidFill>
            <a:srgbClr val="18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Segoe UI"/>
              </a:rPr>
              <a:t>ASSURANCE
LAYER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338828"/>
            <a:ext cx="45720" cy="9326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947672" y="4558284"/>
            <a:ext cx="1727454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onsolas"/>
              </a:rPr>
              <a:t>pytest regression harness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57422" y="4558284"/>
            <a:ext cx="1787042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onsolas"/>
              </a:rPr>
              <a:t>differential replay engine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26760" y="4558284"/>
            <a:ext cx="1429512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onsolas"/>
              </a:rPr>
              <a:t>git apply / rollback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8568" y="4558284"/>
            <a:ext cx="1846630" cy="21945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0E1A"/>
                </a:solidFill>
                <a:latin typeface="Consolas"/>
              </a:rPr>
              <a:t>ed25519 proof-bundle signer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47672" y="4832604"/>
            <a:ext cx="952804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onsolas"/>
              </a:rPr>
              <a:t>SARIF export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" y="5244084"/>
            <a:ext cx="274320" cy="196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B8C"/>
                </a:solidFill>
                <a:latin typeface="Segoe UI"/>
              </a:rPr>
              <a:t>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413248"/>
            <a:ext cx="8732520" cy="932688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11480" y="5413248"/>
            <a:ext cx="1389888" cy="932688"/>
          </a:xfrm>
          <a:prstGeom prst="roundRect">
            <a:avLst>
              <a:gd name="adj" fmla="val 6000"/>
            </a:avLst>
          </a:prstGeom>
          <a:solidFill>
            <a:srgbClr val="18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OPS
LAYER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413248"/>
            <a:ext cx="45720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947672" y="5632704"/>
            <a:ext cx="1489100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Consolas"/>
              </a:rPr>
              <a:t>FastAPI control plane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19068" y="5632704"/>
            <a:ext cx="1071981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Consolas"/>
              </a:rPr>
              <a:t>HTMX dashboard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73346" y="5632704"/>
            <a:ext cx="1489100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Consolas"/>
              </a:rPr>
              <a:t>SQLite findings store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44742" y="5632704"/>
            <a:ext cx="1071981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Consolas"/>
              </a:rPr>
              <a:t>Docker Compose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47672" y="5907024"/>
            <a:ext cx="1727454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Consolas"/>
              </a:rPr>
              <a:t>structured JSON audit log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57422" y="5907024"/>
            <a:ext cx="1310335" cy="21945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0E1A"/>
                </a:solidFill>
                <a:latin typeface="Consolas"/>
              </a:rPr>
              <a:t>runs fully offline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72600" y="1115568"/>
            <a:ext cx="2404872" cy="5230368"/>
          </a:xfrm>
          <a:prstGeom prst="roundRect">
            <a:avLst>
              <a:gd name="adj" fmla="val 6000"/>
            </a:avLst>
          </a:prstGeom>
          <a:solidFill>
            <a:srgbClr val="131A2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1097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1" i="0">
                <a:solidFill>
                  <a:srgbClr val="22D3EE"/>
                </a:solidFill>
                <a:latin typeface="Segoe UI"/>
              </a:rPr>
              <a:t>EQUIPMENT &amp; FOOTPRINT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850" b="0" i="0">
                <a:solidFill>
                  <a:srgbClr val="93A2C0"/>
                </a:solidFill>
                <a:latin typeface="Segoe UI"/>
              </a:rPr>
              <a:t>No specialised hardware. No cloud. No licence-bound tooling.</a:t>
            </a:r>
          </a:p>
          <a:p>
            <a:pPr algn="l" marL="137160" indent="-13716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•  </a:t>
            </a:r>
            <a:r>
              <a:rPr sz="900" b="0" i="0">
                <a:solidFill>
                  <a:srgbClr val="E8EDF7"/>
                </a:solidFill>
                <a:latin typeface="Segoe UI"/>
              </a:rPr>
              <a:t>Commodity x86 laptop</a:t>
            </a:r>
          </a:p>
          <a:p>
            <a:pPr algn="l" marL="137160" indent="-13716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•  </a:t>
            </a:r>
            <a:r>
              <a:rPr sz="900" b="0" i="0">
                <a:solidFill>
                  <a:srgbClr val="E8EDF7"/>
                </a:solidFill>
                <a:latin typeface="Segoe UI"/>
              </a:rPr>
              <a:t>16 GB RAM</a:t>
            </a:r>
          </a:p>
          <a:p>
            <a:pPr algn="l" marL="137160" indent="-13716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•  </a:t>
            </a:r>
            <a:r>
              <a:rPr sz="900" b="0" i="0">
                <a:solidFill>
                  <a:srgbClr val="E8EDF7"/>
                </a:solidFill>
                <a:latin typeface="Segoe UI"/>
              </a:rPr>
              <a:t>8 GB GPU — optional, for the local model only</a:t>
            </a:r>
          </a:p>
          <a:p>
            <a:pPr algn="l" marL="137160" indent="-13716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•  </a:t>
            </a:r>
            <a:r>
              <a:rPr sz="900" b="0" i="0">
                <a:solidFill>
                  <a:srgbClr val="E8EDF7"/>
                </a:solidFill>
                <a:latin typeface="Segoe UI"/>
              </a:rPr>
              <a:t>Everything in the stack is open source or already licensed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37192" y="3145536"/>
            <a:ext cx="2075688" cy="12801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37192" y="3218687"/>
            <a:ext cx="2075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DESIGN TARGETS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37192" y="3419856"/>
            <a:ext cx="2075688" cy="676656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2D3EE"/>
                </a:solidFill>
                <a:latin typeface="Consolas"/>
              </a:rPr>
              <a:t>≥ 90%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of decisions resolved on-device by the 3B local tier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37192" y="4151376"/>
            <a:ext cx="2075688" cy="676656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34D399"/>
                </a:solidFill>
                <a:latin typeface="Consolas"/>
              </a:rPr>
              <a:t>&lt; 6 GB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peak RAM for a full autonomous run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37192" y="4882896"/>
            <a:ext cx="2075688" cy="676656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34D399"/>
                </a:solidFill>
                <a:latin typeface="Consolas"/>
              </a:rPr>
              <a:t>&lt; 90 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cold start to the first captured PoV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37192" y="5669280"/>
            <a:ext cx="20756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Segoe UI"/>
              </a:rPr>
              <a:t>Deployable inside an air-gapped Armed Forces network, on hardware already in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5566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AI KAVACH  ·  PRAHARI  ·  AUTONOMOUS CYBER-REASONING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2615" y="645566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7"/>
                </a:solidFill>
                <a:latin typeface="Segoe UI"/>
              </a:rPr>
              <a:t>Salient Features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68735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Segoe UI"/>
              </a:rPr>
              <a:t>SLIDE 4  ·  KEY FEATURES, INNOVATION &amp; UNIQUE SELLING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59536"/>
            <a:ext cx="11368735" cy="201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5556351" cy="2212848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A0E1A"/>
                </a:solidFill>
                <a:latin typeface="Consolas"/>
              </a:rPr>
              <a:t>USP 1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A524"/>
                </a:solidFill>
                <a:latin typeface="Segoe UI"/>
              </a:rPr>
              <a:t>THE MISSING ORACLE — PySan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2C0"/>
                </a:solidFill>
                <a:latin typeface="Segoe UI"/>
              </a:rPr>
              <a:t>Autonomous CRS works on C/C++ because AddressSanitizer turns a memory bug into a segfault — free ground truth. Web services have no such signal. PySan is the ASan-equivalent for Python: it propagates taint from every request into every dangerous sink, converting silent injection, path traversal, SSRF, unsafe deserialization and broken-authorization bugs into deterministic, replayable crashes.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5556351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1207007"/>
            <a:ext cx="518160" cy="20116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A0E1A"/>
                </a:solidFill>
                <a:latin typeface="Consolas"/>
              </a:rPr>
              <a:t>USP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71215"/>
            <a:ext cx="515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EDF7"/>
                </a:solidFill>
                <a:latin typeface="Segoe UI"/>
              </a:rPr>
              <a:t>No existing tool pairs runtime taint tracking with autonomous patching.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560320"/>
            <a:ext cx="5154015" cy="256032"/>
          </a:xfrm>
          <a:prstGeom prst="roundRect">
            <a:avLst>
              <a:gd name="adj" fmla="val 10000"/>
            </a:avLst>
          </a:prstGeom>
          <a:solidFill>
            <a:srgbClr val="18213A"/>
          </a:solidFill>
          <a:ln w="762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A524"/>
                </a:solidFill>
                <a:latin typeface="Consolas"/>
              </a:rPr>
              <a:t>tainted(request.args[‘q’])</a:t>
            </a:r>
            <a:r>
              <a:rPr sz="850" b="0" i="0">
                <a:solidFill>
                  <a:srgbClr val="5A6B8C"/>
                </a:solidFill>
                <a:latin typeface="Consolas"/>
              </a:rPr>
              <a:t>  reaches  </a:t>
            </a:r>
            <a:r>
              <a:rPr sz="850" b="1" i="0">
                <a:solidFill>
                  <a:srgbClr val="F5A524"/>
                </a:solidFill>
                <a:latin typeface="Consolas"/>
              </a:rPr>
              <a:t>cursor.execute()</a:t>
            </a:r>
            <a:r>
              <a:rPr sz="850" b="1" i="0">
                <a:solidFill>
                  <a:srgbClr val="34D399"/>
                </a:solidFill>
                <a:latin typeface="Consolas"/>
              </a:rPr>
              <a:t>   ⇒   PoV, CWE-89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1078992"/>
            <a:ext cx="5556351" cy="2212848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A0E1A"/>
                </a:solidFill>
                <a:latin typeface="Consolas"/>
              </a:rPr>
              <a:t>USP 2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PROOF-CARRYING PATCHES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3A2C0"/>
                </a:solidFill>
                <a:latin typeface="Segoe UI"/>
              </a:rPr>
              <a:t>A patch is never accepted on model confidence. It must clear four machine-checkable gates, and it ships with the evidence attached: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078992"/>
            <a:ext cx="5556351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5031" y="1207007"/>
            <a:ext cx="518160" cy="20116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A0E1A"/>
                </a:solidFill>
                <a:latin typeface="Consolas"/>
              </a:rPr>
              <a:t>USP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5031" y="2194560"/>
            <a:ext cx="1471574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Consolas"/>
              </a:rPr>
              <a:t>G1  PoV replay 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8902" y="2194560"/>
            <a:ext cx="1359408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Consolas"/>
              </a:rPr>
              <a:t>G2  tests 100% green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5031" y="2468879"/>
            <a:ext cx="2649321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Consolas"/>
              </a:rPr>
              <a:t>G3  10k-request differential fuzz identical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6649" y="2468879"/>
            <a:ext cx="1415491" cy="219456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Consolas"/>
              </a:rPr>
              <a:t>G4  no new taint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2779776"/>
            <a:ext cx="5154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EDF7"/>
                </a:solidFill>
                <a:latin typeface="Segoe UI"/>
              </a:rPr>
              <a:t>The brief asks us to prove the fix holds. </a:t>
            </a:r>
            <a:r>
              <a:rPr sz="950" b="0" i="0">
                <a:solidFill>
                  <a:srgbClr val="93A2C0"/>
                </a:solidFill>
                <a:latin typeface="Segoe UI"/>
              </a:rPr>
              <a:t>This answers it literally — and the bundle is re-checkable by a change-control board without trusting 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493008"/>
            <a:ext cx="2705023" cy="969264"/>
          </a:xfrm>
          <a:prstGeom prst="roundRect">
            <a:avLst>
              <a:gd name="adj" fmla="val 7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3716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ZERO-HARNESS AUTONOMY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2C0"/>
                </a:solidFill>
                <a:latin typeface="Segoe UI"/>
              </a:rPr>
              <a:t>Point it at a repository and a base URL. It writes its own fuzz drivers from the spec — nothing to configure for unfamiliar infrastructure.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93008"/>
            <a:ext cx="2705023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99383" y="3493008"/>
            <a:ext cx="2705023" cy="969264"/>
          </a:xfrm>
          <a:prstGeom prst="roundRect">
            <a:avLst>
              <a:gd name="adj" fmla="val 7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3716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AIR-GAP FIRST, LIGHTWEIGHT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2C0"/>
                </a:solidFill>
                <a:latin typeface="Segoe UI"/>
              </a:rPr>
              <a:t>About 90% of decisions are resolved by a 3B on-device model plus deterministic analysers. Cloud is an optional escalation, never a dependency.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9383" y="3493008"/>
            <a:ext cx="2705023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87287" y="3493008"/>
            <a:ext cx="2705023" cy="969264"/>
          </a:xfrm>
          <a:prstGeom prst="roundRect">
            <a:avLst>
              <a:gd name="adj" fmla="val 7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3716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EXPLAINABLE &amp; AUDITABLE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2C0"/>
                </a:solidFill>
                <a:latin typeface="Segoe UI"/>
              </a:rPr>
              <a:t>Every finding carries its taint path, PoV, CWE mapping and signed proof bundle — built to survive defence change-control review.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287" y="3493008"/>
            <a:ext cx="2705023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75191" y="3493008"/>
            <a:ext cx="2705023" cy="969264"/>
          </a:xfrm>
          <a:prstGeom prst="roundRect">
            <a:avLst>
              <a:gd name="adj" fmla="val 7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3716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GENERALISES BY DESIGN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2C0"/>
                </a:solidFill>
                <a:latin typeface="Segoe UI"/>
              </a:rPr>
              <a:t>The oracle sits at framework level, not application level. New target, no new rules, no retraining, no re-tuning.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5191" y="3493008"/>
            <a:ext cx="2705023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732020"/>
            <a:ext cx="3108960" cy="2852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Segoe UI"/>
              </a:rPr>
              <a:t>WHERE PRAHARI SITS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732020"/>
            <a:ext cx="1651955" cy="2852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2C0"/>
                </a:solidFill>
                <a:latin typeface="Segoe UI"/>
              </a:rPr>
              <a:t>FINDS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2395" y="4732020"/>
            <a:ext cx="1651955" cy="2852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2C0"/>
                </a:solidFill>
                <a:latin typeface="Segoe UI"/>
              </a:rPr>
              <a:t>PATCHES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4350" y="4732020"/>
            <a:ext cx="1651955" cy="2852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Segoe UI"/>
              </a:rPr>
              <a:t>PROVES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305" y="4732020"/>
            <a:ext cx="1651955" cy="2852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2C0"/>
                </a:solidFill>
                <a:latin typeface="Segoe UI"/>
              </a:rPr>
              <a:t>WEB / 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8260" y="4732020"/>
            <a:ext cx="1651955" cy="2852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2C0"/>
                </a:solidFill>
                <a:latin typeface="Segoe UI"/>
              </a:rPr>
              <a:t>OFFLINE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021884"/>
            <a:ext cx="11368735" cy="257860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021884"/>
            <a:ext cx="2926079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Scanners — Snyk, Semgrep, Burp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021884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2395" y="5021884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4444"/>
                </a:solidFill>
                <a:latin typeface="Segoe UI Symbol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4350" y="5021884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4444"/>
                </a:solidFill>
                <a:latin typeface="Segoe UI Symbol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305" y="5021884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8260" y="5021884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A524"/>
                </a:solidFill>
                <a:latin typeface="Segoe UI"/>
              </a:rPr>
              <a:t>partial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307177"/>
            <a:ext cx="11368735" cy="257860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5307177"/>
            <a:ext cx="2926079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LLM autofix — Copilot Autofix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5307177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2395" y="5307177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4350" y="5307177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4444"/>
                </a:solidFill>
                <a:latin typeface="Segoe UI Symbol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305" y="5307177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28260" y="5307177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4444"/>
                </a:solidFill>
                <a:latin typeface="Segoe UI Symbol"/>
              </a:rPr>
              <a:t>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592470"/>
            <a:ext cx="11368735" cy="257860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5592470"/>
            <a:ext cx="2926079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AIxCC-class CRS — C/C++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5592470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72395" y="5592470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24350" y="5592470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6305" y="5592470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4444"/>
                </a:solidFill>
                <a:latin typeface="Segoe UI Symbol"/>
              </a:rPr>
              <a:t>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28260" y="5592470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4444"/>
                </a:solidFill>
                <a:latin typeface="Segoe UI Symbol"/>
              </a:rPr>
              <a:t>✗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5877763"/>
            <a:ext cx="11368735" cy="257860"/>
          </a:xfrm>
          <a:prstGeom prst="roundRect">
            <a:avLst>
              <a:gd name="adj" fmla="val 10000"/>
            </a:avLst>
          </a:prstGeom>
          <a:solidFill>
            <a:srgbClr val="1821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5877763"/>
            <a:ext cx="2926079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PRAHARI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0440" y="5877763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72395" y="5877763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24350" y="5877763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6305" y="5877763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28260" y="5877763"/>
            <a:ext cx="1651955" cy="257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ymbol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6144768"/>
            <a:ext cx="1136873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EDF7"/>
                </a:solidFill>
                <a:latin typeface="Segoe UI"/>
              </a:rPr>
              <a:t>PRAHARI is the only point in this space that is autonomous, verifiable, web-native and air-gap-capable at the same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5566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AI KAVACH  ·  PRAHARI  ·  AUTONOMOUS CYBER-REASONING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2615" y="645566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A6B8C"/>
                </a:solidFill>
                <a:latin typeface="Segoe UI"/>
              </a:rPr>
              <a:t>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7"/>
                </a:solidFill>
                <a:latin typeface="Segoe UI"/>
              </a:rPr>
              <a:t>Final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68735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3A2C0"/>
                </a:solidFill>
                <a:latin typeface="Segoe UI"/>
              </a:rPr>
              <a:t>SLIDE 5  ·  EXPECTED OUTCOMES, PERFORMANCE OBJECTIVES &amp; PROOF-OF-CONCEPT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59536"/>
            <a:ext cx="11368735" cy="201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556351" cy="2249424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DELIVERABLES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Consolas"/>
              </a:rPr>
              <a:t>1  </a:t>
            </a:r>
            <a:r>
              <a:rPr sz="900" b="1" i="0">
                <a:solidFill>
                  <a:srgbClr val="E8EDF7"/>
                </a:solidFill>
                <a:latin typeface="Segoe UI"/>
              </a:rPr>
              <a:t>PRAHARI engine + CLI  </a:t>
            </a:r>
            <a:r>
              <a:rPr sz="900" b="0" i="0">
                <a:solidFill>
                  <a:srgbClr val="93A2C0"/>
                </a:solidFill>
                <a:latin typeface="Segoe UI"/>
              </a:rPr>
              <a:t>—  one-command Docker Compose run against any target repository and base URL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Consolas"/>
              </a:rPr>
              <a:t>2  </a:t>
            </a:r>
            <a:r>
              <a:rPr sz="900" b="1" i="0">
                <a:solidFill>
                  <a:srgbClr val="E8EDF7"/>
                </a:solidFill>
                <a:latin typeface="Segoe UI"/>
              </a:rPr>
              <a:t>PySan taint runtime  </a:t>
            </a:r>
            <a:r>
              <a:rPr sz="900" b="0" i="0">
                <a:solidFill>
                  <a:srgbClr val="93A2C0"/>
                </a:solidFill>
                <a:latin typeface="Segoe UI"/>
              </a:rPr>
              <a:t>—  released as a standalone, reusable Python library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Consolas"/>
              </a:rPr>
              <a:t>3  </a:t>
            </a:r>
            <a:r>
              <a:rPr sz="900" b="1" i="0">
                <a:solidFill>
                  <a:srgbClr val="E8EDF7"/>
                </a:solidFill>
                <a:latin typeface="Segoe UI"/>
              </a:rPr>
              <a:t>Proof-bundle spec + verifier  </a:t>
            </a:r>
            <a:r>
              <a:rPr sz="900" b="0" i="0">
                <a:solidFill>
                  <a:srgbClr val="93A2C0"/>
                </a:solidFill>
                <a:latin typeface="Segoe UI"/>
              </a:rPr>
              <a:t>—  anyone can re-check a patch without trusting the system that produced it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Consolas"/>
              </a:rPr>
              <a:t>4  </a:t>
            </a:r>
            <a:r>
              <a:rPr sz="900" b="1" i="0">
                <a:solidFill>
                  <a:srgbClr val="E8EDF7"/>
                </a:solidFill>
                <a:latin typeface="Segoe UI"/>
              </a:rPr>
              <a:t>Operator dashboard  </a:t>
            </a:r>
            <a:r>
              <a:rPr sz="900" b="0" i="0">
                <a:solidFill>
                  <a:srgbClr val="93A2C0"/>
                </a:solidFill>
                <a:latin typeface="Segoe UI"/>
              </a:rPr>
              <a:t>—  live findings, taint paths, patch diffs and gate results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2D3EE"/>
                </a:solidFill>
                <a:latin typeface="Consolas"/>
              </a:rPr>
              <a:t>5  </a:t>
            </a:r>
            <a:r>
              <a:rPr sz="900" b="1" i="0">
                <a:solidFill>
                  <a:srgbClr val="E8EDF7"/>
                </a:solidFill>
                <a:latin typeface="Segoe UI"/>
              </a:rPr>
              <a:t>Benchmark report  </a:t>
            </a:r>
            <a:r>
              <a:rPr sz="900" b="0" i="0">
                <a:solidFill>
                  <a:srgbClr val="93A2C0"/>
                </a:solidFill>
                <a:latin typeface="Segoe UI"/>
              </a:rPr>
              <a:t>—  against a seeded-vulnerability corpus of Django/Flask apps plus real CVEs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45720" cy="224942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3863" y="1097280"/>
            <a:ext cx="5556351" cy="2249424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5A524"/>
                </a:solidFill>
                <a:latin typeface="Segoe UI"/>
              </a:rPr>
              <a:t>PROOF-OF-CONCEPT — LIVE DEMONSTRATION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A vulnerability is injected into a running target; the operator touches nothing after this line: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097280"/>
            <a:ext cx="45720" cy="224942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5031" y="1883664"/>
            <a:ext cx="5154015" cy="1097280"/>
          </a:xfrm>
          <a:prstGeom prst="roundRect">
            <a:avLst>
              <a:gd name="adj" fmla="val 6000"/>
            </a:avLst>
          </a:prstGeom>
          <a:solidFill>
            <a:srgbClr val="0A0E1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E8EDF7"/>
                </a:solidFill>
                <a:latin typeface="Consolas"/>
              </a:rPr>
              <a:t>$ prahari run --repo ./target --url http://127.0.0.1:8000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A6B8C"/>
                </a:solidFill>
                <a:latin typeface="Consolas"/>
              </a:rPr>
              <a:t>[map]     </a:t>
            </a:r>
            <a:r>
              <a:rPr sz="800" b="0" i="0">
                <a:solidFill>
                  <a:srgbClr val="93A2C0"/>
                </a:solidFill>
                <a:latin typeface="Consolas"/>
              </a:rPr>
              <a:t>routes discovered ............ 34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A6B8C"/>
                </a:solidFill>
                <a:latin typeface="Consolas"/>
              </a:rPr>
              <a:t>[static]  </a:t>
            </a:r>
            <a:r>
              <a:rPr sz="800" b="0" i="0">
                <a:solidFill>
                  <a:srgbClr val="93A2C0"/>
                </a:solidFill>
                <a:latin typeface="Consolas"/>
              </a:rPr>
              <a:t>ranked sink paths ............ 12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A6B8C"/>
                </a:solidFill>
                <a:latin typeface="Consolas"/>
              </a:rPr>
              <a:t>[pysan]   </a:t>
            </a:r>
            <a:r>
              <a:rPr sz="800" b="1" i="0">
                <a:solidFill>
                  <a:srgbClr val="F5A524"/>
                </a:solidFill>
                <a:latin typeface="Consolas"/>
              </a:rPr>
              <a:t>PoV captured   CWE-89   GET /api/units?q=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A6B8C"/>
                </a:solidFill>
                <a:latin typeface="Consolas"/>
              </a:rPr>
              <a:t>[patch]   </a:t>
            </a:r>
            <a:r>
              <a:rPr sz="800" b="0" i="0">
                <a:solidFill>
                  <a:srgbClr val="93A2C0"/>
                </a:solidFill>
                <a:latin typeface="Consolas"/>
              </a:rPr>
              <a:t>candidate 2 of 4 accepted   (local 3B tier)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A6B8C"/>
                </a:solidFill>
                <a:latin typeface="Consolas"/>
              </a:rPr>
              <a:t>[gates]   </a:t>
            </a:r>
            <a:r>
              <a:rPr sz="800" b="1" i="0">
                <a:solidFill>
                  <a:srgbClr val="34D399"/>
                </a:solidFill>
                <a:latin typeface="Consolas"/>
              </a:rPr>
              <a:t>G1 blocked  G2 118/118  G3 10k ok  G4 clean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A6B8C"/>
                </a:solidFill>
                <a:latin typeface="Consolas"/>
              </a:rPr>
              <a:t>[bundle]  </a:t>
            </a:r>
            <a:r>
              <a:rPr sz="800" b="1" i="0">
                <a:solidFill>
                  <a:srgbClr val="34D399"/>
                </a:solidFill>
                <a:latin typeface="Consolas"/>
              </a:rPr>
              <a:t>proof a91f7c..  SIGNED  -&gt;  patch PR opened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031" y="3017520"/>
            <a:ext cx="51540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A6B8C"/>
                </a:solidFill>
                <a:latin typeface="Segoe UI"/>
              </a:rPr>
              <a:t>Illustrative output — every line above is produced by the pipeline on Slide 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56432"/>
            <a:ext cx="113687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EDF7"/>
                </a:solidFill>
                <a:latin typeface="Segoe UI"/>
              </a:rPr>
              <a:t>PERFORMANCE OBJECTIVES</a:t>
            </a:r>
            <a:r>
              <a:rPr sz="850" b="1" i="0">
                <a:solidFill>
                  <a:srgbClr val="F5A524"/>
                </a:solidFill>
                <a:latin typeface="Segoe UI"/>
              </a:rPr>
              <a:t>     targets for the 36-hour finale — not results already measured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30752"/>
            <a:ext cx="1772869" cy="932688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18872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22D3EE"/>
                </a:solidFill>
                <a:latin typeface="Consolas"/>
              </a:rPr>
              <a:t>≥ 85%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detection rate on the seeded corpus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0653" y="3730752"/>
            <a:ext cx="1772869" cy="932688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18872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22D3EE"/>
                </a:solidFill>
                <a:latin typeface="Consolas"/>
              </a:rPr>
              <a:t>≤ 5%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false-positive rate on confirmed 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9826" y="3730752"/>
            <a:ext cx="1772869" cy="932688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18872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22D3EE"/>
                </a:solidFill>
                <a:latin typeface="Consolas"/>
              </a:rPr>
              <a:t>&lt; 10 min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mean time from finding to proven 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3730752"/>
            <a:ext cx="1772869" cy="932688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18872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34D399"/>
                </a:solidFill>
                <a:latin typeface="Consolas"/>
              </a:rPr>
              <a:t>100%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regression suite pass before a patch 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8172" y="3730752"/>
            <a:ext cx="1772869" cy="932688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18872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34D399"/>
                </a:solidFill>
                <a:latin typeface="Consolas"/>
              </a:rPr>
              <a:t>&lt; 6 GB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peak RAM for a full autonomous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07346" y="3730752"/>
            <a:ext cx="1772869" cy="932688"/>
          </a:xfrm>
          <a:prstGeom prst="roundRect">
            <a:avLst>
              <a:gd name="adj" fmla="val 10000"/>
            </a:avLst>
          </a:prstGeom>
          <a:solidFill>
            <a:srgbClr val="131A2B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18872" bIns="5486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34D399"/>
                </a:solidFill>
                <a:latin typeface="Consolas"/>
              </a:rPr>
              <a:t>≥ 90%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A2C0"/>
                </a:solidFill>
                <a:latin typeface="Segoe UI"/>
              </a:rPr>
              <a:t>of decisions resolved fully offline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882896"/>
            <a:ext cx="11368735" cy="73152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09728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FINALE READINESS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2C0"/>
                </a:solidFill>
                <a:latin typeface="Segoe UI"/>
              </a:rPr>
              <a:t>PRAHARI is aimed at a target by repository path and base URL alone — no per-application rules, no retraining, no reconfiguration. It can be pointed at the simulated Indian Armed Forces environment on day one, and every result it produces arrives with the evidence a reviewer needs to accept or reject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882896"/>
            <a:ext cx="50292" cy="731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607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A6B8C"/>
                </a:solidFill>
                <a:latin typeface="Segoe UI"/>
              </a:rPr>
              <a:t>SUBMITTED 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00200" y="5779008"/>
            <a:ext cx="2740456" cy="237744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Consolas"/>
              </a:rPr>
              <a:t>GitHub repository  source + Docker Compose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2952" y="5779008"/>
            <a:ext cx="2084984" cy="237744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Consolas"/>
              </a:rPr>
              <a:t>Recorded 3-minute demonstration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90233" y="5779008"/>
            <a:ext cx="2025395" cy="237744"/>
          </a:xfrm>
          <a:prstGeom prst="roundRect">
            <a:avLst>
              <a:gd name="adj" fmla="val 50000"/>
            </a:avLst>
          </a:prstGeom>
          <a:solidFill>
            <a:srgbClr val="18213A"/>
          </a:solidFill>
          <a:ln w="76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Consolas"/>
              </a:rPr>
              <a:t>Benchmark &amp; methodology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